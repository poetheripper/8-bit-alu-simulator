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 Black"/>
      <p:bold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Black-boldItalic.fntdata"/><Relationship Id="rId23" Type="http://schemas.openxmlformats.org/officeDocument/2006/relationships/font" Target="fonts/Merriweather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14bb687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14bb687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14bb6876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14bb6876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3ce6b2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93ce6b2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3ce6b22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93ce6b2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14bb6876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14bb6876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3ce6b2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3ce6b2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14bb6876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14bb6876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3ce6b22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3ce6b22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14bb6876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914bb6876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14bb6876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914bb6876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14bb6876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914bb6876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14bb6876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14bb6876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4062000" cy="1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o" sz="2200">
                <a:solidFill>
                  <a:srgbClr val="333333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Project 1: 8-bit ALU Simulation</a:t>
            </a:r>
            <a:endParaRPr sz="4100"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02000" y="2294300"/>
            <a:ext cx="40620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Cristescu Ioana-Maria</a:t>
            </a:r>
            <a:endParaRPr>
              <a:solidFill>
                <a:schemeClr val="dk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Moisi Andreea-Maria</a:t>
            </a:r>
            <a:endParaRPr>
              <a:solidFill>
                <a:schemeClr val="dk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0" y="0"/>
            <a:ext cx="4464000" cy="499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ro" sz="3000">
                <a:latin typeface="Merriweather Black"/>
                <a:ea typeface="Merriweather Black"/>
                <a:cs typeface="Merriweather Black"/>
                <a:sym typeface="Merriweather Black"/>
              </a:rPr>
              <a:t> Modelare Structurală și Ierarhică</a:t>
            </a:r>
            <a:endParaRPr sz="3000"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718250" y="-75"/>
            <a:ext cx="4425900" cy="49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Arhitectura a fost partiționată în sub-module independente și reutilizabile:</a:t>
            </a:r>
            <a:endParaRPr sz="2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28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o" sz="28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u_reg</a:t>
            </a: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Registre universale</a:t>
            </a:r>
            <a:endParaRPr sz="2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28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o" sz="28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CLA_9bit</a:t>
            </a: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Sumator (Carry-Lookahead Adder) </a:t>
            </a:r>
            <a:endParaRPr sz="2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28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o" sz="28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up_down_counter_3bit</a:t>
            </a: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pentru contorizarea iteratilor</a:t>
            </a:r>
            <a:endParaRPr sz="2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28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o" sz="28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mux9bit</a:t>
            </a:r>
            <a:r>
              <a:rPr lang="ro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și </a:t>
            </a:r>
            <a:r>
              <a:rPr b="1" lang="ro" sz="28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demux9bit</a:t>
            </a:r>
            <a:endParaRPr sz="2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28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o" sz="285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control_unit</a:t>
            </a:r>
            <a:endParaRPr sz="285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o" sz="3500">
                <a:latin typeface="Merriweather Black"/>
                <a:ea typeface="Merriweather Black"/>
                <a:cs typeface="Merriweather Black"/>
                <a:sym typeface="Merriweather Black"/>
              </a:rPr>
              <a:t>Separarea Datapath de Unitatea de Control</a:t>
            </a:r>
            <a:endParaRPr sz="3500"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344900" y="0"/>
            <a:ext cx="4799100" cy="49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esignul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separa logica de calcul de logica de comandă: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Calea de Date (</a:t>
            </a:r>
            <a:r>
              <a:rPr b="1"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ALU_Top.v</a:t>
            </a:r>
            <a:r>
              <a:rPr b="1"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Conține interconectarea modulelor de calcul și a registrelor.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Unitatea de Control (</a:t>
            </a:r>
            <a:r>
              <a:rPr b="1"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control_unit.v</a:t>
            </a:r>
            <a:r>
              <a:rPr b="1"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Implementează un FSM. Acesta monitorizează flag-urile de stare (precum 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Q[0]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q_minus_1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sau 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A[8:6]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și generează semnalele de control (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C0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C16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necesare controlului ALU.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-33250" y="-7125"/>
            <a:ext cx="9177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633200" y="99775"/>
            <a:ext cx="5877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Wave Adunare</a:t>
            </a:r>
            <a:endParaRPr sz="35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85" name="Google Shape;85;p16" title="wave_ad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250" y="1105300"/>
            <a:ext cx="9177300" cy="38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9500" y="-102150"/>
            <a:ext cx="9206100" cy="5245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633200" y="99775"/>
            <a:ext cx="5877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Wave Scadere</a:t>
            </a:r>
            <a:endParaRPr sz="35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92" name="Google Shape;92;p17" title="wave_sub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00" y="1159175"/>
            <a:ext cx="9206100" cy="36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latin typeface="Merriweather Black"/>
                <a:ea typeface="Merriweather Black"/>
                <a:cs typeface="Merriweather Black"/>
                <a:sym typeface="Merriweather Black"/>
              </a:rPr>
              <a:t>Înmulțirea (Booth Radix-2)</a:t>
            </a:r>
            <a:endParaRPr sz="3500"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S-a utilizat algoritmul Booth pentru a trata direct numerele cu semn (complement față de doi). Analizând tranzițiile biților (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Q[0]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și extensia 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q_minus_1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algoritmul optimizează operația reducând numărul de adunări necesare atunci când se întâlnesc secvențe de biți identici.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-9500" y="-102150"/>
            <a:ext cx="9206100" cy="5245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633200" y="99775"/>
            <a:ext cx="5877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Wave </a:t>
            </a: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Înmulțire</a:t>
            </a:r>
            <a:endParaRPr sz="35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105" name="Google Shape;105;p19" title="wave_mul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050" y="1155875"/>
            <a:ext cx="9206100" cy="366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latin typeface="Merriweather Black"/>
                <a:ea typeface="Merriweather Black"/>
                <a:cs typeface="Merriweather Black"/>
                <a:sym typeface="Merriweather Black"/>
              </a:rPr>
              <a:t>Împărțirea (SRT Radix-2)</a:t>
            </a:r>
            <a:endParaRPr sz="3500"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S-a implementat algoritmul (SRT) cu bază 2, care utilizează un sistem redundant de cifre pentru cât. Prin verificarea primilor trei biți ai restului parțial (</a:t>
            </a:r>
            <a:r>
              <a:rPr lang="ro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A[8], A[7], A[6]</a:t>
            </a: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ALU-ul este capabil să decidă dacă efectuează o operație de adunare/scădere sau doar o deplasare (shiftare), crescând astfel performanța de calcul prin omiterea iterațiilor redundante.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-9500" y="-102150"/>
            <a:ext cx="9206100" cy="5245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1633200" y="99775"/>
            <a:ext cx="5877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Wave </a:t>
            </a: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Împărțire</a:t>
            </a:r>
            <a:endParaRPr sz="35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118" name="Google Shape;118;p21" title="wave_div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00" y="1253725"/>
            <a:ext cx="92061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/>
          <p:nvPr/>
        </p:nvSpPr>
        <p:spPr>
          <a:xfrm>
            <a:off x="0" y="8250"/>
            <a:ext cx="9144000" cy="5127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49900" y="64150"/>
            <a:ext cx="90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0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Schema Hardware</a:t>
            </a:r>
            <a:endParaRPr sz="30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125" name="Google Shape;125;p22" title="ALU_hardware_design_finaled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600" y="710650"/>
            <a:ext cx="5914598" cy="420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15050" y="-20050"/>
            <a:ext cx="9129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0" y="243125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0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Registru Shitabil pe 9 biti</a:t>
            </a:r>
            <a:endParaRPr sz="30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132" name="Google Shape;132;p23" title="Reg_shift_9bit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0140"/>
            <a:ext cx="9144000" cy="290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/>
          <p:nvPr/>
        </p:nvSpPr>
        <p:spPr>
          <a:xfrm>
            <a:off x="-27600" y="0"/>
            <a:ext cx="91992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1665600" y="130375"/>
            <a:ext cx="581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0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CLA_9bit Sumator</a:t>
            </a:r>
            <a:endParaRPr sz="30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139" name="Google Shape;139;p24" title="C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125" y="776875"/>
            <a:ext cx="5688827" cy="409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2500" y="5025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689350" y="193025"/>
            <a:ext cx="7770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Counter bidirectional pe 3 biti</a:t>
            </a:r>
            <a:endParaRPr sz="35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pic>
        <p:nvPicPr>
          <p:cNvPr id="146" name="Google Shape;146;p25" title="3bit_coun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" y="916323"/>
            <a:ext cx="9144003" cy="390390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